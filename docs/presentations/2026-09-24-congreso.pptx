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Vengo a contar qué aprendimos midiendo nuestro propio trabajo con IA. Incluida la parte en la que nos salió 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Abrimos el chat, escribimos lo que queremos, copiamos lo que devuelve. Sin plan escrito, sin registro de lo que se decidió y sin comprobar si hizo lo que pedimos. Funciona sorprendentemente bien, hasta que deja de funcionar.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problemas que todos reconocemos. El que más caro sale no es que se invente cosas: es que no podemos comprobar si lo que hizo está bien, así que lo aceptamos o lo rehacemos entero.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pedimos a un modelo que trabaje en una carpeta que no conoce, sin reglas escritas, sin manera de verificar nada. A una persona nueva tampoco le saldría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cosas, ninguna exótica. Que los materiales estén donde se espera. Que lo que damos por acordado esté escrito. Y que exista una forma de comprobar el resultado que no sea leerlo y confiar.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Preguntamos en qué rango de puertos asigna Kubernetes un NodePort por omisión. La respuesta buena no es el documento: es el valor y dónde está. Esa es, literalmente, una de las veinte preguntas que nuestro propio producto no supo responder: volvemos a ella en la diapositiva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no dijimos qué esperábamos, cualquier resultado parece aceptable. Escribirlo antes es lo que permite comprobarlo después.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modelo solo habla. El harness es lo que le da herramientas, límites y memoria.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solo intento rara vez acierta. Lo que importa del ciclo es quién decide cuándo parar.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confirmación devuelve confirmación. Hizo falta alguien cuyo trabajo era buscar la contradicción: la encontró en nuestra propia documentación, publicada desde hacía semanas.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luego lo arreglo no sobrevive a la semana. Lo que encontramos de paso se anota, con dueño, en vez de arreglarse por su cuenta.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 herramientas, un modelo solo escribe texto sobre el trabajo. Con ellas, lo hace y se le puede comprobar.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misma tarea para las dos vías. Esta es la del prompt suelto: sin issue, sin spec, sin criterios escritos. Aun así escribió pruebas por su cuenta.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misma tarea, por el flujo completo. Tres veces y media más lenta, y con veintiséis archivos más, casi todos de evidencia.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tercera columna es la clave: sin ella las dos vías parecen buenas y no se ve de dónde partían. Y la conclusión no es que gane una: es que ninguna lo resolvió del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ganamos: dos preguntas más y un localizador de pasaje. Pero conviene decir en voz alta el tamaño del corpus, porque la siguiente diapositiva lo desmonta.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Nuestro producto no devolvió ni una sola de las veinte respuestas, y encima fue más lento. Lo podríamos no haber contado. Está publicado.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cosas. El número bueno del corpus pequeño no predecía nada. Comprobar de verdad cambia el resultado: el mismo arnés, corregido, encontró 66 problemas distintos donde antes no veía ninguno, y en seis de los siete controles inalcanzables lo que los tapaba era la barra de acciones. Y la revisión adversarial funciona justamente cuando encuentra algo que duele.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Quiero ser claro: no vengo a vender una solución terminada, vengo a proponer un proyecto abierto, enseñar en qué punto está e invitar a construirlo. Incluida la parte que no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cosas que se pueden llevar hoy sin instalar nada nuestro, y una invitación: el proyecto es abierto y se nota que está a medias.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es para el final o para preguntas. Lo que no se midió, no se afirma.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regla que no se rompe. Si alguien pregunta por una cifra, sale de uno de estos registros y está publicado.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828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Dale a tu IA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97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buen punto de partida.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aprendimos midiendo nuestro propio trabajo con IA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Ignacio Barboza Espinoza  ·  24 de septiembre de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trabajamos hoy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prompt. Una respuesta. A ver qué sale.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468880"/>
            <a:ext cx="6949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Abrimos el chat, escribimos lo que queremos y copiamos lo que devuelve.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plan escrito, sin registro de lo decidido, sin comprobar si hizo lo que pedimos.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sorprendentemente bien… hasta que deja de funcionar.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38160" y="169164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ver qué sale”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sale mal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2176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inventa cosas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633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 huecos con algo verosímil.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17627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desvía del objetivo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6334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otra cosa parecida.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13131C"/>
          </a:solidFill>
          <a:ln w="12700">
            <a:solidFill>
              <a:srgbClr val="13131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3913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se puede comprobar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370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aceptamos o lo rehacemos entero.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365760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39136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Hay que rehacerlo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629400" y="4370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volvemos a empezar.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más caro sale es el tercero.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¿Y si el problema no es el modelo,</a:t>
            </a:r>
            <a:endParaRPr lang="en-US" sz="36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sino el sitio donde lo ponemos a trabajar?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8912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pedimos que trabaje en una carpeta que no conoce.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reglas escritas y sin manera de verificar nada.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una persona nueva tampoco le saldría bien.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PROPUESTA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 un entorno preparado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084832"/>
            <a:ext cx="384048" cy="38404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03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carpeta ordenada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999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materiales donde se esperan.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084832"/>
            <a:ext cx="384048" cy="38404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2103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reglas escritas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999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damos por acordado, escrito.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291840" cy="1737360"/>
          </a:xfrm>
          <a:prstGeom prst="roundRect">
            <a:avLst>
              <a:gd name="adj" fmla="val 6316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084832"/>
            <a:ext cx="384048" cy="38404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0" y="210312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comprobaciones listas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9992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Comprobar sin leerlo y confiar.</a:t>
            </a:r>
            <a:endParaRPr lang="en-US" sz="1300" dirty="0"/>
          </a:p>
        </p:txBody>
      </p:sp>
      <p:pic>
        <p:nvPicPr>
          <p:cNvPr id="20" name="Image 0" descr="C:\Users\RitualDesktop\.codex\worktrees\165-presentation-layout-fix\project-engineering-os\docs\assets\companion\paso-3-vi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840480"/>
            <a:ext cx="5852160" cy="21488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31520" y="6035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0.3.2, commit d744c47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949440" y="420624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cosas, ninguna exótica. Aquí, la pantalla donde se escribe qué se quiere lograr: eso es “las reglas escritas”.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RAG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RAG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Buscar la frase exacta y decir en qué archivo y en qué línea está, en vez de entregar todo el archivo.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468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Darle un repositorio entero a un modelo es como darle una biblioteca y pedirle una cita.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EJEMPLO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40690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«¿En qué rango asigna Kubernetes un NodePort?» La respuesta buena no es el documento: es «30000-32767, en service.md».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Escribir qué tiene que pasar, antes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9659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Escribir qué tiene que ocurrir antes de hacerlo, para poder comprobarlo después.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468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dijimos qué esperábamos, cualquier resultado parece aceptable.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EJEMPLO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0690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«Al terminar el asistente, los dos botones se pueden pulsar» se puede comprobar. «Mejorar la interfaz» no.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programa alrededor del modelo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programa que lo rodea: qué puede ejecutar, hasta dónde llega y qué recuerda.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468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solo habla. Alguien tiene que darle herramientas, límites y memoria.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EJEMPLO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40690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nuestro abre la aplicación de verdad, recorre las pantallas y mide dónde cae cada clic.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Piensa, actúa, comprueba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9659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ciclo que repite. Y, sobre todo, quién decide cuándo parar.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468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intento rara vez acierta, y repetir sin comprobar es dar vueltas.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EJEMPLO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0690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nuestro para cuando la comprobación pasa, no cuando el agente cree que terminó.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ADVERSARIAL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Alguien que intenta romperlo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Alguien que intenta romperlo, no confirmarlo. Y que no participó en hacerlo.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468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Pedirle a alguien que confirme que está bien casi siempre devuelve «está bien».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EJEMPLO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40690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revisión encontró en nuestra documentación un texto que afirmaba una cosa mientras la captura de al lado la desmentía. Llevaba semanas publicado.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anota en vez de olvidarse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9659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deja escrito y con dueño, en vez de olvidado.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468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«Esto luego lo arreglo» no sobrevive a la semana.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EJEMPLO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0690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Midiendo encontramos un defecto del empaquetador que no tocaba arreglar ahí. No se arregló de pasada: se anotó.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Y MCP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Capacidades y enchufes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200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skills son formas de trabajar que el agente aprende y reutiliza; MCP es el enchufe a herramientas de verdad.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09360" y="182880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2148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4688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sin herramientas solo puede escribir texto sobre el trabajo, no hacerlo.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37490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EJEMPLO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406908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eso, el agente no describe la aplicación: la abre, la recorre y mide.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 · EJECUCIÓN REAL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tarea con un prompt suelto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i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«…el gate de Definition of Ready rechaza issues escritos en español correcto: frases como “El rollback conserva el historial”… Arréglalo.»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min 44 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reloj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 / 14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+/–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26060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/ 19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3337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420624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Escribió pruebas por su cuenta, aunque nadie se lo pidió.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de 34 frases legítimas pasan, y los 19 marcadores de verdad siguen rechazados.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 · EJECUCIÓN REAL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misma tarea con el flujo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 → issue → preparación → change → tareas → evidencia → revisión → deuda → archivo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min 3 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reloj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1822 / 4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líneas +/–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82396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19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82396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931920"/>
            <a:ext cx="10698480" cy="1737360"/>
          </a:xfrm>
          <a:prstGeom prst="roundRect">
            <a:avLst>
              <a:gd name="adj" fmla="val 6316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4206240"/>
            <a:ext cx="9966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issue, spec, medición repetible y assessment de deuda.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de 34 frases legítimas, y 18 de 19 marcadores.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A LADO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salió distinto</a:t>
            </a:r>
            <a:endParaRPr lang="en-US" sz="3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194560"/>
                <a:gridCol w="2194560"/>
                <a:gridCol w="2194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suelto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completo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arreglar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Frases correctas que pasan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 de 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de 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de 34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Marcadores de verdad rechazados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de 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de 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de 19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Archivos tocados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617720"/>
            <a:ext cx="10698480" cy="1325880"/>
          </a:xfrm>
          <a:prstGeom prst="roundRect">
            <a:avLst>
              <a:gd name="adj" fmla="val 8276"/>
            </a:avLst>
          </a:prstGeom>
          <a:solidFill>
            <a:srgbClr val="13131C"/>
          </a:solidFill>
          <a:ln w="12700">
            <a:solidFill>
              <a:srgbClr val="13131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48006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Ninguna de las dos lo resolvió del todo, y fallan en cosas distintas.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52578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encontraron, sin que nadie se lo pidiera, un fallo que nadie había visto: la búsqueda de palabras no reconoce la «í» acentuada.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MEDICIÓN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medimos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Diez preguntas con respuesta conocida sobre 6812 bytes de notas, PDF y Word.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286000"/>
          <a:ext cx="65836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56032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Devolvió la respuesta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Abrir todo el corpus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de 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Buscar literal, grep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de 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Contexto preparado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6C5C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de 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2286000"/>
            <a:ext cx="3657600" cy="2048256"/>
          </a:xfrm>
          <a:prstGeom prst="roundRect">
            <a:avLst>
              <a:gd name="adj" fmla="val 5357"/>
            </a:avLst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9244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Aquí ganamos.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9718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preguntas más, y además decimos en qué página y párrafo está la respuesta.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Pero este corpus cabe en un correo electrónico.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3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ADVERSO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D143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de 20</a:t>
            </a:r>
            <a:endParaRPr lang="en-US" sz="9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54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kubernetes/website y python/cpython, con veinte preguntas congeladas antes de medir.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1371600"/>
            <a:ext cx="4937760" cy="4206240"/>
          </a:xfrm>
          <a:prstGeom prst="roundRect">
            <a:avLst>
              <a:gd name="adj" fmla="val 2609"/>
            </a:avLst>
          </a:prstGeom>
          <a:solidFill>
            <a:srgbClr val="1F1F2C"/>
          </a:solidFill>
          <a:ln w="12700">
            <a:solidFill>
              <a:srgbClr val="1F1F2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todo el corpus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784080" y="16824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de 20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395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literal, grep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784080" y="2340864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de 20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305409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preparado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784080" y="299923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143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de 20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6118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causa está medida: indexó 45 de 2654 fuentes en Kubernetes y 42 de 2753 en CPython, y se quedó sin presupuesto.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4617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medimos otra vez cuatro días antes de esta charla, con la versión publicada de hoy: sigue en 0 de 20.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 publicado en nuestra página de evidencia, al lado del número bueno.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APRENDIMOS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cosas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110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2880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número bueno no predecía nada.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8600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solo hubiéramos medido en el corpus pequeño, estaríamos vendiendo algo que no funciona donde importa.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457200" cy="457200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32841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4612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Comprobar de verdad cambia el resultado.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703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arnés certificó nuestra aplicación con cero hallazgos. Su versión corregida encontró 66 problemas distintos sobre la misma aplicación, repetidos en 23 combinaciones: 360 renglones. Entre ellos, siete controles que no se podían pulsar.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4709160"/>
            <a:ext cx="457200" cy="457200"/>
          </a:xfrm>
          <a:prstGeom prst="ellipse">
            <a:avLst/>
          </a:prstGeom>
          <a:solidFill>
            <a:srgbClr val="F4F4F7"/>
          </a:solidFill>
          <a:ln w="12700">
            <a:solidFill>
              <a:srgbClr val="F4F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7457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6634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revisión adversarial funciona cuando duele.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1206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lo que llevamos semanas mirando sin ver, y justo donde más incómodo resulta.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estoy proponiendo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vengo a venderos una solución terminada.</a:t>
            </a:r>
            <a:endParaRPr lang="en-US" sz="2400" dirty="0"/>
          </a:p>
        </p:txBody>
      </p:sp>
      <p:pic>
        <p:nvPicPr>
          <p:cNvPr id="6" name="Image 0" descr="C:\Users\RitualDesktop\.codex\worktrees\165-presentation-layout-fix\project-engineering-os\docs\assets\companion-curren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240280"/>
            <a:ext cx="5029200" cy="1847088"/>
          </a:xfrm>
          <a:prstGeom prst="rect">
            <a:avLst/>
          </a:prstGeom>
        </p:spPr>
      </p:pic>
      <p:pic>
        <p:nvPicPr>
          <p:cNvPr id="7" name="Image 1" descr="C:\Users\RitualDesktop\.codex\worktrees\165-presentation-layout-fix\project-engineering-os\docs\assets\companion\proyecto-listo-activac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06240"/>
            <a:ext cx="5029200" cy="18470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1520" y="6108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0.3.2, commit d744c47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6309360" y="22402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hay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309360" y="25328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para Windows, un núcleo que hace lo mismo desde la terminal, y una página donde publicamos lo que medimos.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6309360" y="326440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Comprobado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309360" y="355701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seis pasos documentados para empezar funcionan de principio a fin. El diagnóstico de un proyecto nuevo: 29 comprobaciones, ningún fallo.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6309360" y="428853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falta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309360" y="458114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recuperación en repositorios grandes no funciona. Está medido y publicado.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309360" y="53126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lo abro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6309360" y="560527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313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no es tener un producto: es que preparar el entorno se note de verdad en el trabajo de cualquiera que use IA.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1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CIERRE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430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Prepara el entorno antes</a:t>
            </a:r>
            <a:endParaRPr lang="en-US" sz="34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pedirle nada al modelo.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8620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Escribid qué esperáis antes de pedirlo. Si no, cualquier resultado parece bueno.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84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Poned una comprobación que pueda fallar. Una que nunca falla no está comprobando nada.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436168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F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 vuestro propio trabajo y publicad lo que salga. Nosotros salimos 0 de 20 y lo contamos aquí.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5257800"/>
            <a:ext cx="10424160" cy="914400"/>
          </a:xfrm>
          <a:prstGeom prst="roundRect">
            <a:avLst>
              <a:gd name="adj" fmla="val 12000"/>
            </a:avLst>
          </a:prstGeom>
          <a:solidFill>
            <a:srgbClr val="1F1F2C"/>
          </a:solidFill>
          <a:ln w="12700">
            <a:solidFill>
              <a:srgbClr val="1F1F2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54864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una cuarta, si os apetece: venid a construirlo. Es abierto y está a medias.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LÍMITES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medimos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lo tanto, qué no afirmamos.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Consumo de tokens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420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midió, y no se estima a partir de bytes.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09360" y="2194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Calidad de respuesta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254203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Evaluarla con el mismo agente que la produjo sería juez y parte.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474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Alucinaciones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2219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 no las observa.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3474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Comparación con otros productos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82219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hizo.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Ahorro de tiempo o dinero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10235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ninguno demostrado.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4754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comparación de las dos vías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510235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una tarea, y nada más. Además, las dos partían con la misma información previa sobre el defecto.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66928"/>
            <a:ext cx="128016" cy="128016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69264" y="457200"/>
            <a:ext cx="104543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PROCEDENCIA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86868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313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sale cada cifra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1907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cifra de esta charla se escribió de memoria. Cada una sale de un registro de este repositorio.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1069848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5303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Diapositiva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 17 · las veinte preguntas y su resultado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run-02/kubernetes-website.json y cpython.json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 14, 15 · las dos vías, sus tiempos y sus cifras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flow-comparison/evaluation.json, timing.json, resultado.md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· el microcorpus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docs/companion/EVIDENCE.md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· el contraste del arnés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after/harness-contrast.json y harness-contrast-detail.json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· capturas y arranque documentado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313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docs/companion/SCREENSHOTS.md, after/documented-start.json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512064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13131C"/>
          </a:solidFill>
          <a:ln w="12700">
            <a:solidFill>
              <a:srgbClr val="13131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54223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una cifra no está en esta tabla, no está en una diapositiva.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Dale a tu IA un buen punto de partida</dc:title>
  <dc:subject>PptxGenJS Presentation</dc:subject>
  <dc:creator>Ignacio Barboza Espinoza</dc:creator>
  <cp:lastModifiedBy>Ignacio Barboza Espinoza</cp:lastModifiedBy>
  <cp:revision>1</cp:revision>
  <dcterms:created xsi:type="dcterms:W3CDTF">2026-09-24T10:31:16Z</dcterms:created>
  <dcterms:modified xsi:type="dcterms:W3CDTF">2026-09-24T10:31:16Z</dcterms:modified>
</cp:coreProperties>
</file>